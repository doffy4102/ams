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267E9-EB88-4EC3-9824-F414D5A3A4DE}" v="2" dt="2026-07-15T17:46:29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7ADF9-D835-4A6A-A9F6-9516861C8369}" type="datetimeFigureOut"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D8471-8513-4E4B-A9EE-101F2957644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67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background sourced from attached file: CitiusTech PPT Template_ Extra Light.pdf.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background sourced from attached file: CitiusTech PPT Template_ Extra Light.pdf.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background sourced from attached file: CitiusTech PPT Template_ Extra Light.pdf.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background sourced from attached file: CitiusTech PPT Template_ Extra Light.pdf.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background sourced from attached file: CitiusTech PPT Template_ Extra Light.pdf.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background sourced from attached file: CitiusTech PPT Template_ Extra Light.pdf.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background sourced from attached file: CitiusTech PPT Template_ Extra Light.pdf.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background sourced from attached file: CitiusTech PPT Template_ Extra Light.pdf.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background sourced from attached file: CitiusTech PPT Template_ Extra Light.pdf.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D5720B-D0A3-9344-021E-C2E448259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88952" cy="694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899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t_template_pages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" y="164592"/>
            <a:ext cx="116586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11384280" y="64008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</a:rPr>
              <a:t>2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3474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9768" y="74980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gaps are limiting visibility, cost governance, and operational control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" y="1325880"/>
            <a:ext cx="10972800" cy="969264"/>
          </a:xfrm>
          <a:prstGeom prst="roundRect">
            <a:avLst>
              <a:gd name="adj" fmla="val 0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68096" y="15819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organization faces asset management challenges driven by fragmented data sources, limited lifecycle visibility, manual processes, and disconnected inventory, procurement, and license management systems.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EEB"/>
                </a:solidFill>
              </a:rPr>
              <a:t>01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98448" y="2761488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Inefficient utilization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98448" y="3090672"/>
            <a:ext cx="4553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Delayed visibility impacts allocation, recovery, and investment decisions.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080" y="379476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EEB"/>
                </a:solidFill>
              </a:rPr>
              <a:t>02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98448" y="3813048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exposure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298448" y="4142232"/>
            <a:ext cx="4553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Scattered records increase audit effort, reporting risk, and governance gaps.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080" y="484632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EEB"/>
                </a:solidFill>
              </a:rPr>
              <a:t>03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98448" y="4864608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cost control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298448" y="5193792"/>
            <a:ext cx="4553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visibility and software license optimization remain difficult without centralized tracking.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49440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Need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040880" y="3767328"/>
            <a:ext cx="35661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FFFFFF"/>
                </a:solidFill>
              </a:rPr>
              <a:t>A unified, governance-driven platform providing a single source of truth across assets, inventory, procurement, and licenses.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t_template_pages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" y="164592"/>
            <a:ext cx="116586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384280" y="64008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</a:rPr>
              <a:t>3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3474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&amp; Benefits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9768" y="74980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Asset Management enables visibility, control, compliance, and optimization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0352" y="12984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Management provides a centralized framework to govern, track, and optimize assets throughout their lifecycle, enabling end-to-end visibility, cost optimization, compliance, operational efficiency, and data-driven decision-making.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2920" y="2240280"/>
            <a:ext cx="3246120" cy="1115568"/>
          </a:xfrm>
          <a:prstGeom prst="roundRect">
            <a:avLst>
              <a:gd name="adj" fmla="val 327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67512" y="2404872"/>
            <a:ext cx="2916936" cy="268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Visibility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67512" y="2770632"/>
            <a:ext cx="29169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view of ownership, usage, status, and accountability.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97680" y="2240280"/>
            <a:ext cx="3246120" cy="1115568"/>
          </a:xfrm>
          <a:prstGeom prst="roundRect">
            <a:avLst>
              <a:gd name="adj" fmla="val 327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462272" y="2404872"/>
            <a:ext cx="2916936" cy="268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Control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462272" y="2770632"/>
            <a:ext cx="29169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spend governance, utilization, and license optimization.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092440" y="2240280"/>
            <a:ext cx="3246120" cy="1115568"/>
          </a:xfrm>
          <a:prstGeom prst="roundRect">
            <a:avLst>
              <a:gd name="adj" fmla="val 327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257032" y="24048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257032" y="2770632"/>
            <a:ext cx="29169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Traceable, audit-ready records and stronger governance.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3840480"/>
            <a:ext cx="3246120" cy="1115568"/>
          </a:xfrm>
          <a:prstGeom prst="roundRect">
            <a:avLst>
              <a:gd name="adj" fmla="val 327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67512" y="40050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67512" y="4370832"/>
            <a:ext cx="29169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manual reconciliation and faster reporting.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297680" y="3840480"/>
            <a:ext cx="3246120" cy="1115568"/>
          </a:xfrm>
          <a:prstGeom prst="roundRect">
            <a:avLst>
              <a:gd name="adj" fmla="val 327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462272" y="40050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Support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462272" y="4370832"/>
            <a:ext cx="29169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dashboards for timely business decisions.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092440" y="3840480"/>
            <a:ext cx="3246120" cy="1115568"/>
          </a:xfrm>
          <a:prstGeom prst="roundRect">
            <a:avLst>
              <a:gd name="adj" fmla="val 327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8257032" y="40050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Accountability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257032" y="4370832"/>
            <a:ext cx="29169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ownership across lifecycle and procurement stages.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t_template_pages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" y="164592"/>
            <a:ext cx="116586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384280" y="64008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</a:rPr>
              <a:t>4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3474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Challenges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9768" y="74980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limitations impacting transparency, planning accuracy, and audit readiness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67512" y="158191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Fragmented Data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67512" y="194767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Asset, inventory, and license data is spread across multiple systems, resulting in inconsistent records.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97680" y="141732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462272" y="158191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Reconciliation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62272" y="194767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validation increases operational effort, errors, and reporting delays.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92440" y="141732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257032" y="158191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Lifecycle Visibility Gaps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57032" y="194767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visibility into ownership, utilization, movement, warranty, and retirement stages.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338328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67512" y="35478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License Tracking Limitations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67512" y="391363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insight into license allocation, utilization, availability, and unused licenses.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297680" y="338328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462272" y="35478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 Readiness Challenges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462272" y="391363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Disparate records and manual controls increase audit effort and compliance complexity.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092440" y="338328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8257032" y="35478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Disconnected Procurement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57032" y="391363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Procurement and asset management are not fully integrated, limiting forecasting and investment control.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t_template_pages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" y="164592"/>
            <a:ext cx="116586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384280" y="64008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</a:rPr>
              <a:t>5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3474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9768" y="74980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Unified platform for lifecycle, inventory, procurement, license, and compliance governance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51960" y="1417320"/>
            <a:ext cx="3657600" cy="640080"/>
          </a:xfrm>
          <a:prstGeom prst="roundRect">
            <a:avLst>
              <a:gd name="adj" fmla="val 5714"/>
            </a:avLst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26280" y="162763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/>
              <a:t>Single Asset Platform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2523744"/>
            <a:ext cx="3154680" cy="1078992"/>
          </a:xfrm>
          <a:prstGeom prst="roundRect">
            <a:avLst>
              <a:gd name="adj" fmla="val 3390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58952" y="2679192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Lifecycle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8952" y="3044952"/>
            <a:ext cx="28254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governance from procurement to disposal.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297680" y="2514600"/>
            <a:ext cx="3154680" cy="1078992"/>
          </a:xfrm>
          <a:prstGeom prst="roundRect">
            <a:avLst>
              <a:gd name="adj" fmla="val 3390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462272" y="2679192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Management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62272" y="3044952"/>
            <a:ext cx="28254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view of asset availability, location, and status.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001000" y="2514600"/>
            <a:ext cx="3154680" cy="1078992"/>
          </a:xfrm>
          <a:prstGeom prst="roundRect">
            <a:avLst>
              <a:gd name="adj" fmla="val 3390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165592" y="2679192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Procurement Tracking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165592" y="3044952"/>
            <a:ext cx="28254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Demand, approvals, orders, budgets, and asset capitalization.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94360" y="4114800"/>
            <a:ext cx="3154680" cy="1078992"/>
          </a:xfrm>
          <a:prstGeom prst="roundRect">
            <a:avLst>
              <a:gd name="adj" fmla="val 3390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58952" y="4279392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License Governance</a:t>
            </a:r>
            <a:endParaRPr lang="en-US" sz="107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58952" y="4645152"/>
            <a:ext cx="28254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Allocation, consumption, renewals, and reclamation.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297680" y="4114800"/>
            <a:ext cx="3154680" cy="1078992"/>
          </a:xfrm>
          <a:prstGeom prst="roundRect">
            <a:avLst>
              <a:gd name="adj" fmla="val 3390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Text 21"/>
          <p:cNvSpPr/>
          <p:nvPr/>
        </p:nvSpPr>
        <p:spPr>
          <a:xfrm>
            <a:off x="4462272" y="4279392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 &amp; Compliance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462272" y="4645152"/>
            <a:ext cx="28254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Traceability, controls, evidence, and readiness.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001000" y="4114800"/>
            <a:ext cx="3154680" cy="1078992"/>
          </a:xfrm>
          <a:prstGeom prst="roundRect">
            <a:avLst>
              <a:gd name="adj" fmla="val 3390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8165592" y="4279392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&amp; Reporting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165592" y="4645152"/>
            <a:ext cx="28254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Dashboards, trends, exceptions, and management insights.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t_template_pages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" y="164592"/>
            <a:ext cx="116586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384280" y="64008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</a:rPr>
              <a:t>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3474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AI Features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9768" y="74980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capabilities for automation, forecasting, governance, and insights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129844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EEB"/>
                </a:solidFill>
              </a:rPr>
              <a:t>01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52728" y="131673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Data Normalization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52728" y="1645920"/>
            <a:ext cx="4325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inconsistent asset records and supports rationalized master data.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09360" y="129844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EEB"/>
                </a:solidFill>
              </a:rPr>
              <a:t>02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967728" y="131673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Reconciliation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967728" y="1645920"/>
            <a:ext cx="4325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Matches assets across endpoint, inventory, procurement, and license sources.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4360" y="271576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EEB"/>
                </a:solidFill>
              </a:rPr>
              <a:t>03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52728" y="273405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Lifecycle Insights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52728" y="3063240"/>
            <a:ext cx="4325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Forecasts refresh cycles, warranty risks, and asset demand.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309360" y="271576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EEB"/>
                </a:solidFill>
              </a:rPr>
              <a:t>04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967728" y="273405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License Optimization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67728" y="3063240"/>
            <a:ext cx="4325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unused, underused, and over-allocated licenses.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94360" y="413308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EEB"/>
                </a:solidFill>
              </a:rPr>
              <a:t>05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252728" y="415137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Risk Alerts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252728" y="4480560"/>
            <a:ext cx="4325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missing ownership, stale records, and audit risk indicators.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309360" y="413308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EEB"/>
                </a:solidFill>
              </a:rPr>
              <a:t>06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967728" y="415137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Conversational Insights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967728" y="4480560"/>
            <a:ext cx="4325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natural-language queries for asset, license, and compliance status.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t_template_pages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" y="164592"/>
            <a:ext cx="116586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384280" y="64008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</a:rPr>
              <a:t>7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3474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Benefits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9768" y="74980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Measurable outcomes from centralized and AI-enabled asset intelligence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67512" y="158191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Visibility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67512" y="194767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source of truth for inventory, ownership, utilization, and compliance.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97680" y="141732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462272" y="158191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Optimization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62272" y="194767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control over procurement spend, license utilization, and investments.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92440" y="141732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257032" y="158191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 Readiness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57032" y="194767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Traceable records reduce audit preparation effort and compliance exposure.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338328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67512" y="35478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Efficiency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67512" y="391363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reduces reconciliation effort and accelerates reporting cycles.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297680" y="338328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462272" y="35478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Support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462272" y="391363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Dashboards and AI insights enable faster, data-driven decisions.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092440" y="338328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4F5FB"/>
          </a:solidFill>
          <a:ln w="12700">
            <a:solidFill>
              <a:srgbClr val="E5E7F3"/>
            </a:solidFill>
            <a:prstDash val="solid"/>
          </a:ln>
          <a:effectLst>
            <a:outerShdw blurRad="127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8257032" y="354787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E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Governance &amp; Control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57032" y="3913632"/>
            <a:ext cx="2916936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processes improve accountability across the asset lifecycle.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t_template_pages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" y="164592"/>
            <a:ext cx="116586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384280" y="64008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</a:rPr>
              <a:t>8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3474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Enhancements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9768" y="74980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capabilities to mature asset governance and continuous optimization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152704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EEB"/>
                </a:solidFill>
              </a:rPr>
              <a:t>▪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41832" y="1508760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connectors across endpoint, inventory, procurement, finance, and license systems.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" y="235000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EEB"/>
                </a:solidFill>
              </a:rPr>
              <a:t>▪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41832" y="2331720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forecasting for refresh demand, licenses, warranty exposure, and budget usage.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5800" y="3172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EEB"/>
                </a:solidFill>
              </a:rPr>
              <a:t>▪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41832" y="3154680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governance workflows for allocation, reclamation, approvals, and exceptions.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800" y="39959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EEB"/>
                </a:solidFill>
              </a:rPr>
              <a:t>▪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41832" y="3977640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and self-service access for status tracking and ownership validation.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5800" y="481888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EEB"/>
                </a:solidFill>
              </a:rPr>
              <a:t>▪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41832" y="4800600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AI assistant for recommendations, proactive risk nudges, and conversational analytics.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t_template_pages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" y="164592"/>
            <a:ext cx="116586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384280" y="64008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0000"/>
                </a:solidFill>
              </a:rPr>
              <a:t>9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3474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Recommended Adoption Roadmap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9768" y="74980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Phased approach from manual tracking to intelligent asset governance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30352" y="1874520"/>
            <a:ext cx="1874520" cy="2880360"/>
          </a:xfrm>
          <a:prstGeom prst="roundRect">
            <a:avLst>
              <a:gd name="adj" fmla="val 1951"/>
            </a:avLst>
          </a:prstGeom>
          <a:solidFill>
            <a:srgbClr val="F4F5FB"/>
          </a:solidFill>
          <a:ln w="1016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30352" y="1874520"/>
            <a:ext cx="1874520" cy="438912"/>
          </a:xfrm>
          <a:prstGeom prst="rect">
            <a:avLst/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8368" y="202082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Discover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94944" y="2697480"/>
            <a:ext cx="153619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data sources, stakeholders, process gaps, and reporting needs.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23160" y="2999232"/>
            <a:ext cx="320040" cy="502920"/>
          </a:xfrm>
          <a:prstGeom prst="chevron">
            <a:avLst/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798064" y="1874520"/>
            <a:ext cx="1874520" cy="28803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798064" y="1874520"/>
            <a:ext cx="1874520" cy="438912"/>
          </a:xfrm>
          <a:prstGeom prst="rect">
            <a:avLst/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926080" y="202082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Consolidate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962656" y="2697480"/>
            <a:ext cx="153619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single repository with cleansing and ownership validation.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90872" y="2999232"/>
            <a:ext cx="320040" cy="502920"/>
          </a:xfrm>
          <a:prstGeom prst="chevron">
            <a:avLst/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065776" y="1874520"/>
            <a:ext cx="1874520" cy="2880360"/>
          </a:xfrm>
          <a:prstGeom prst="roundRect">
            <a:avLst>
              <a:gd name="adj" fmla="val 1951"/>
            </a:avLst>
          </a:prstGeom>
          <a:solidFill>
            <a:srgbClr val="F4F5FB"/>
          </a:solidFill>
          <a:ln w="1016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5065776" y="1874520"/>
            <a:ext cx="1874520" cy="438912"/>
          </a:xfrm>
          <a:prstGeom prst="rect">
            <a:avLst/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193792" y="202082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Integrate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230368" y="2697480"/>
            <a:ext cx="153619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 inventory, endpoint, procurement, budget, and license sources.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958584" y="2999232"/>
            <a:ext cx="320040" cy="502920"/>
          </a:xfrm>
          <a:prstGeom prst="chevron">
            <a:avLst/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333488" y="1874520"/>
            <a:ext cx="1874520" cy="28803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7333488" y="1874520"/>
            <a:ext cx="1874520" cy="438912"/>
          </a:xfrm>
          <a:prstGeom prst="rect">
            <a:avLst/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461504" y="202082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Automate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498080" y="2697480"/>
            <a:ext cx="153619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reconciliation, alerts, approvals, reclamation, and audit workflows.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226296" y="2999232"/>
            <a:ext cx="320040" cy="502920"/>
          </a:xfrm>
          <a:prstGeom prst="chevron">
            <a:avLst/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9601200" y="1874520"/>
            <a:ext cx="1874520" cy="2880360"/>
          </a:xfrm>
          <a:prstGeom prst="roundRect">
            <a:avLst>
              <a:gd name="adj" fmla="val 1951"/>
            </a:avLst>
          </a:prstGeom>
          <a:solidFill>
            <a:srgbClr val="F4F5FB"/>
          </a:solidFill>
          <a:ln w="1016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9601200" y="1874520"/>
            <a:ext cx="1874520" cy="438912"/>
          </a:xfrm>
          <a:prstGeom prst="rect">
            <a:avLst/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9729216" y="202082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Optimize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9765792" y="2697480"/>
            <a:ext cx="153619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AI insights for forecasting, lifecycle planning, and cost governance.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463040" y="5376672"/>
            <a:ext cx="9235440" cy="457200"/>
          </a:xfrm>
          <a:prstGeom prst="roundRect">
            <a:avLst>
              <a:gd name="adj" fmla="val 8000"/>
            </a:avLst>
          </a:prstGeom>
          <a:solidFill>
            <a:srgbClr val="241EEB"/>
          </a:solidFill>
          <a:ln w="12700">
            <a:solidFill>
              <a:srgbClr val="241E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1737360" y="5532120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Outcome: Unified, intelligent, and audit-ready Asset Management ecosystem.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t_template_pages/pag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996</Words>
  <Application>Microsoft Office PowerPoint</Application>
  <PresentationFormat>Widescreen</PresentationFormat>
  <Paragraphs>143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CitiusTech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Asset Management - CitiusTech Template</dc:title>
  <dc:subject>Asset Management Transformation</dc:subject>
  <dc:creator>Sushmita Salian</dc:creator>
  <cp:lastModifiedBy>Swara Rane</cp:lastModifiedBy>
  <cp:revision>26</cp:revision>
  <dcterms:created xsi:type="dcterms:W3CDTF">2026-07-15T16:49:18Z</dcterms:created>
  <dcterms:modified xsi:type="dcterms:W3CDTF">2026-07-15T17:59:21Z</dcterms:modified>
</cp:coreProperties>
</file>